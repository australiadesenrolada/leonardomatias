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8" r:id="rId3"/>
    <p:sldId id="259" r:id="rId4"/>
    <p:sldId id="267" r:id="rId5"/>
    <p:sldId id="260" r:id="rId6"/>
    <p:sldId id="268" r:id="rId7"/>
    <p:sldId id="261" r:id="rId8"/>
    <p:sldId id="269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1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00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7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3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35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7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0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4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61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98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m conceito abstrato da genética">
            <a:extLst>
              <a:ext uri="{FF2B5EF4-FFF2-40B4-BE49-F238E27FC236}">
                <a16:creationId xmlns:a16="http://schemas.microsoft.com/office/drawing/2014/main" id="{D8FAB2FD-C0D6-9799-33AC-E9AF1E3D6E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7177" r="9091" b="2168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A6EC40-2091-4E39-5A3B-A9BB93CBB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700">
                <a:solidFill>
                  <a:srgbClr val="FFFFFF"/>
                </a:solidFill>
              </a:rPr>
              <a:t>ICTTEN622 – Produce ICT network architecture designs</a:t>
            </a:r>
            <a:endParaRPr lang="pt-BR" sz="47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BAA3FC-C5FA-554B-5D3D-E07F1CF8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AU" sz="1000">
                <a:solidFill>
                  <a:srgbClr val="FFFFFF"/>
                </a:solidFill>
              </a:rPr>
              <a:t>Telecommunications Network Engineering </a:t>
            </a:r>
          </a:p>
          <a:p>
            <a:pPr>
              <a:lnSpc>
                <a:spcPct val="120000"/>
              </a:lnSpc>
            </a:pPr>
            <a:r>
              <a:rPr lang="en-AU" sz="1000">
                <a:solidFill>
                  <a:srgbClr val="FFFFFF"/>
                </a:solidFill>
              </a:rPr>
              <a:t>Leonardo Matias Ciarcia</a:t>
            </a:r>
          </a:p>
          <a:p>
            <a:pPr>
              <a:lnSpc>
                <a:spcPct val="120000"/>
              </a:lnSpc>
            </a:pPr>
            <a:r>
              <a:rPr lang="en-AU" sz="1000">
                <a:solidFill>
                  <a:srgbClr val="FFFFFF"/>
                </a:solidFill>
              </a:rPr>
              <a:t>CTI20221062</a:t>
            </a:r>
            <a:endParaRPr lang="pt-BR" sz="100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35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AF494-6260-91E3-1425-E6864D5E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Phase 3 </a:t>
            </a:r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21FEED3-6424-1427-255C-25284921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4" y="2633664"/>
            <a:ext cx="10890930" cy="3187034"/>
          </a:xfrm>
        </p:spPr>
        <p:txBody>
          <a:bodyPr>
            <a:normAutofit/>
          </a:bodyPr>
          <a:lstStyle/>
          <a:p>
            <a:r>
              <a:rPr lang="en-AU" dirty="0"/>
              <a:t>ICT network architecture design production</a:t>
            </a:r>
          </a:p>
          <a:p>
            <a:r>
              <a:rPr lang="en-AU" dirty="0"/>
              <a:t>Preliminary ICT network architecture design production</a:t>
            </a:r>
          </a:p>
          <a:p>
            <a:r>
              <a:rPr lang="en-AU" dirty="0"/>
              <a:t>Evaluate preliminary design and anticipated performance</a:t>
            </a:r>
          </a:p>
          <a:p>
            <a:r>
              <a:rPr lang="en-AU" dirty="0"/>
              <a:t>Finalization of network architecture design and approval obtainment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851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4F3D5-6D6F-41BC-F038-EB402C2B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7472"/>
            <a:ext cx="5559753" cy="1097280"/>
          </a:xfrm>
        </p:spPr>
        <p:txBody>
          <a:bodyPr>
            <a:normAutofit fontScale="90000"/>
          </a:bodyPr>
          <a:lstStyle/>
          <a:p>
            <a:r>
              <a:rPr lang="en-AU" b="0" dirty="0"/>
              <a:t>Business Problems and Project Scope</a:t>
            </a:r>
            <a:endParaRPr lang="en-AU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9A5E34-62A8-0B0D-97E1-9BCF4B3D4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0975"/>
            <a:ext cx="5559753" cy="4089679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Network capacity and wireless coverage no longer meet A-Plus Institute’s requirements.</a:t>
            </a:r>
          </a:p>
          <a:p>
            <a:r>
              <a:rPr lang="en-AU" dirty="0"/>
              <a:t>The organisation requires services across five Brisbane levels.</a:t>
            </a:r>
          </a:p>
          <a:p>
            <a:r>
              <a:rPr lang="en-AU" dirty="0"/>
              <a:t>The new Rookwood campus requires local network services and secure access to Brisbane.</a:t>
            </a:r>
          </a:p>
          <a:p>
            <a:r>
              <a:rPr lang="en-AU" dirty="0"/>
              <a:t>The current network has limited scalability and contains important single points of failure.</a:t>
            </a:r>
          </a:p>
          <a:p>
            <a:r>
              <a:rPr lang="en-AU" dirty="0"/>
              <a:t>The project requires a future-ready architecture supporting performance, security and business growth.</a:t>
            </a:r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8CF66F0-757D-451A-0293-72E494902FDE}"/>
              </a:ext>
            </a:extLst>
          </p:cNvPr>
          <p:cNvSpPr txBox="1">
            <a:spLocks/>
          </p:cNvSpPr>
          <p:nvPr/>
        </p:nvSpPr>
        <p:spPr>
          <a:xfrm>
            <a:off x="6449961" y="400665"/>
            <a:ext cx="5559753" cy="605667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b="1" dirty="0"/>
              <a:t>K</a:t>
            </a:r>
            <a:r>
              <a:rPr lang="pt-BR" b="1" dirty="0" err="1"/>
              <a:t>ey</a:t>
            </a:r>
            <a:r>
              <a:rPr lang="pt-BR" b="1" dirty="0"/>
              <a:t> </a:t>
            </a:r>
            <a:r>
              <a:rPr lang="pt-BR" b="1" dirty="0" err="1"/>
              <a:t>Requirements</a:t>
            </a:r>
            <a:endParaRPr lang="pt-BR" b="1" dirty="0"/>
          </a:p>
          <a:p>
            <a:r>
              <a:rPr lang="pt-BR" dirty="0"/>
              <a:t>Future-</a:t>
            </a:r>
            <a:r>
              <a:rPr lang="pt-BR" dirty="0" err="1"/>
              <a:t>proof</a:t>
            </a:r>
            <a:r>
              <a:rPr lang="pt-BR" dirty="0"/>
              <a:t>, high-</a:t>
            </a:r>
            <a:r>
              <a:rPr lang="pt-BR" dirty="0" err="1"/>
              <a:t>capacity</a:t>
            </a:r>
            <a:r>
              <a:rPr lang="pt-BR" dirty="0"/>
              <a:t>, </a:t>
            </a:r>
            <a:r>
              <a:rPr lang="pt-BR" dirty="0" err="1"/>
              <a:t>secure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scalable</a:t>
            </a:r>
            <a:r>
              <a:rPr lang="pt-BR" dirty="0"/>
              <a:t> </a:t>
            </a:r>
            <a:r>
              <a:rPr lang="pt-BR" dirty="0" err="1"/>
              <a:t>enterprise</a:t>
            </a:r>
            <a:r>
              <a:rPr lang="pt-BR" dirty="0"/>
              <a:t> network</a:t>
            </a:r>
          </a:p>
          <a:p>
            <a:r>
              <a:rPr lang="pt-BR" dirty="0"/>
              <a:t>High-performance </a:t>
            </a:r>
            <a:r>
              <a:rPr lang="pt-BR" dirty="0" err="1"/>
              <a:t>enterprise</a:t>
            </a:r>
            <a:r>
              <a:rPr lang="pt-BR" dirty="0"/>
              <a:t> WLAN (include </a:t>
            </a:r>
            <a:r>
              <a:rPr lang="pt-BR" dirty="0" err="1"/>
              <a:t>adequate</a:t>
            </a:r>
            <a:r>
              <a:rPr lang="pt-BR" dirty="0"/>
              <a:t> </a:t>
            </a:r>
            <a:r>
              <a:rPr lang="pt-BR" dirty="0" err="1"/>
              <a:t>access</a:t>
            </a:r>
            <a:r>
              <a:rPr lang="pt-BR" dirty="0"/>
              <a:t> points, </a:t>
            </a:r>
            <a:r>
              <a:rPr lang="pt-BR" dirty="0" err="1"/>
              <a:t>security</a:t>
            </a:r>
            <a:r>
              <a:rPr lang="pt-BR" dirty="0"/>
              <a:t> features,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support</a:t>
            </a:r>
            <a:r>
              <a:rPr lang="pt-BR" dirty="0"/>
              <a:t> for high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density</a:t>
            </a:r>
            <a:endParaRPr lang="pt-BR" dirty="0"/>
          </a:p>
          <a:p>
            <a:r>
              <a:rPr lang="pt-BR" dirty="0" err="1"/>
              <a:t>Stable</a:t>
            </a:r>
            <a:r>
              <a:rPr lang="pt-BR" dirty="0"/>
              <a:t>/fast internet; </a:t>
            </a:r>
            <a:r>
              <a:rPr lang="pt-BR" dirty="0" err="1"/>
              <a:t>Secure</a:t>
            </a:r>
            <a:r>
              <a:rPr lang="pt-BR" dirty="0"/>
              <a:t> data </a:t>
            </a:r>
            <a:r>
              <a:rPr lang="pt-BR" dirty="0" err="1"/>
              <a:t>transmission</a:t>
            </a:r>
            <a:r>
              <a:rPr lang="pt-BR" dirty="0"/>
              <a:t> (VPN); </a:t>
            </a:r>
            <a:r>
              <a:rPr lang="pt-BR" dirty="0" err="1"/>
              <a:t>Segmentation</a:t>
            </a:r>
            <a:r>
              <a:rPr lang="pt-BR" dirty="0"/>
              <a:t> for admin, trainers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students</a:t>
            </a:r>
            <a:endParaRPr lang="pt-BR" dirty="0"/>
          </a:p>
          <a:p>
            <a:r>
              <a:rPr lang="pt-BR" dirty="0" err="1"/>
              <a:t>Aligning</a:t>
            </a:r>
            <a:r>
              <a:rPr lang="pt-BR" dirty="0"/>
              <a:t> IT </a:t>
            </a:r>
            <a:r>
              <a:rPr lang="pt-BR" dirty="0" err="1"/>
              <a:t>infrastructure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sustainable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energy</a:t>
            </a:r>
            <a:r>
              <a:rPr lang="pt-BR" dirty="0"/>
              <a:t>-eficiente </a:t>
            </a:r>
            <a:r>
              <a:rPr lang="pt-BR" dirty="0" err="1"/>
              <a:t>technologies</a:t>
            </a:r>
            <a:r>
              <a:rPr lang="pt-BR" dirty="0"/>
              <a:t> (hardware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lower</a:t>
            </a:r>
            <a:r>
              <a:rPr lang="pt-BR" dirty="0"/>
              <a:t> </a:t>
            </a:r>
            <a:r>
              <a:rPr lang="pt-BR" dirty="0" err="1"/>
              <a:t>power</a:t>
            </a:r>
            <a:r>
              <a:rPr lang="pt-BR" dirty="0"/>
              <a:t> </a:t>
            </a:r>
            <a:r>
              <a:rPr lang="pt-BR" dirty="0" err="1"/>
              <a:t>consumption</a:t>
            </a:r>
            <a:r>
              <a:rPr lang="pt-BR" dirty="0"/>
              <a:t> , </a:t>
            </a:r>
            <a:r>
              <a:rPr lang="pt-BR" dirty="0" err="1"/>
              <a:t>virtualisation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cloud-</a:t>
            </a:r>
            <a:r>
              <a:rPr lang="pt-BR" dirty="0" err="1"/>
              <a:t>based</a:t>
            </a:r>
            <a:r>
              <a:rPr lang="pt-BR" dirty="0"/>
              <a:t> </a:t>
            </a:r>
            <a:r>
              <a:rPr lang="pt-BR" dirty="0" err="1"/>
              <a:t>solution</a:t>
            </a:r>
            <a:r>
              <a:rPr lang="pt-BR" dirty="0"/>
              <a:t> </a:t>
            </a:r>
            <a:r>
              <a:rPr lang="pt-BR" dirty="0" err="1"/>
              <a:t>where</a:t>
            </a:r>
            <a:r>
              <a:rPr lang="pt-BR" dirty="0"/>
              <a:t> </a:t>
            </a:r>
            <a:r>
              <a:rPr lang="pt-BR" dirty="0" err="1"/>
              <a:t>possible</a:t>
            </a:r>
            <a:endParaRPr lang="pt-BR" dirty="0"/>
          </a:p>
          <a:p>
            <a:r>
              <a:rPr lang="en-AU" dirty="0"/>
              <a:t>Avoid unnecessary costs maintain backward compatibility with current systems</a:t>
            </a:r>
          </a:p>
        </p:txBody>
      </p:sp>
    </p:spTree>
    <p:extLst>
      <p:ext uri="{BB962C8B-B14F-4D97-AF65-F5344CB8AC3E}">
        <p14:creationId xmlns:p14="http://schemas.microsoft.com/office/powerpoint/2010/main" val="365731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4563-FC1F-42C8-DF35-696811C6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B3A22-D993-CA38-816F-21204A5A9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7472"/>
            <a:ext cx="5559753" cy="1097280"/>
          </a:xfrm>
        </p:spPr>
        <p:txBody>
          <a:bodyPr>
            <a:normAutofit fontScale="90000"/>
          </a:bodyPr>
          <a:lstStyle/>
          <a:p>
            <a:r>
              <a:rPr lang="en-AU" b="0" dirty="0"/>
              <a:t>Current network topology</a:t>
            </a:r>
            <a:endParaRPr lang="en-AU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1905EE0-B655-1A91-946B-B9FE43616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616" y="1649263"/>
            <a:ext cx="8936736" cy="505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0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D3829-7005-0D09-CCCC-5A594D88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400665"/>
            <a:ext cx="5809882" cy="1097280"/>
          </a:xfrm>
        </p:spPr>
        <p:txBody>
          <a:bodyPr>
            <a:normAutofit fontScale="90000"/>
          </a:bodyPr>
          <a:lstStyle/>
          <a:p>
            <a:r>
              <a:rPr lang="en-AU" b="0" dirty="0"/>
              <a:t>Preliminary Architecture: Option 1</a:t>
            </a:r>
            <a:endParaRPr lang="en-AU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287174-216F-CDC2-D4D3-B9A53F70E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09" y="1814051"/>
            <a:ext cx="4219000" cy="4884461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Campus routers perform inter-VLAN routing through shared trunks.</a:t>
            </a:r>
          </a:p>
          <a:p>
            <a:r>
              <a:rPr lang="en-AU" dirty="0"/>
              <a:t>Each campus depends on a main switching path.</a:t>
            </a:r>
          </a:p>
          <a:p>
            <a:r>
              <a:rPr lang="en-AU" dirty="0"/>
              <a:t>Wireless access points require individual administration.</a:t>
            </a:r>
          </a:p>
          <a:p>
            <a:r>
              <a:rPr lang="en-AU" dirty="0"/>
              <a:t>Rookwood relies more heavily on services located in Brisbane.</a:t>
            </a:r>
          </a:p>
          <a:p>
            <a:r>
              <a:rPr lang="en-AU" dirty="0"/>
              <a:t>The design uses fewer devices and has a lower initial cost.</a:t>
            </a:r>
          </a:p>
          <a:p>
            <a:r>
              <a:rPr lang="en-AU" dirty="0"/>
              <a:t>Shared links and central devices may create congestion and availability risks.</a:t>
            </a:r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A2054-64FC-84DB-5B30-56E61C49A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409" y="1988288"/>
            <a:ext cx="7142175" cy="4413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3CF07A-1D3A-8BD3-3218-FAA50EF5044E}"/>
              </a:ext>
            </a:extLst>
          </p:cNvPr>
          <p:cNvSpPr txBox="1"/>
          <p:nvPr/>
        </p:nvSpPr>
        <p:spPr>
          <a:xfrm>
            <a:off x="6592186" y="1313279"/>
            <a:ext cx="332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 Option 1 topology</a:t>
            </a:r>
          </a:p>
        </p:txBody>
      </p:sp>
    </p:spTree>
    <p:extLst>
      <p:ext uri="{BB962C8B-B14F-4D97-AF65-F5344CB8AC3E}">
        <p14:creationId xmlns:p14="http://schemas.microsoft.com/office/powerpoint/2010/main" val="393846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0277-00D6-EDC3-D205-143B9AA3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348CE-FD85-B5A7-9B33-84E8B358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400665"/>
            <a:ext cx="5809882" cy="1097280"/>
          </a:xfrm>
        </p:spPr>
        <p:txBody>
          <a:bodyPr>
            <a:normAutofit fontScale="90000"/>
          </a:bodyPr>
          <a:lstStyle/>
          <a:p>
            <a:r>
              <a:rPr lang="en-AU" b="0" dirty="0"/>
              <a:t>Preliminary Architecture: Option 2</a:t>
            </a:r>
            <a:endParaRPr lang="en-AU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ECBE8C-DF82-5EEC-4409-9C99B0C85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09" y="1814051"/>
            <a:ext cx="4219000" cy="4884461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Brisbane uses two Layer 3 core switches with alternate paths.</a:t>
            </a:r>
          </a:p>
          <a:p>
            <a:r>
              <a:rPr lang="en-AU" dirty="0"/>
              <a:t>Each Brisbane level has a separate access switch and managed AP.</a:t>
            </a:r>
          </a:p>
          <a:p>
            <a:r>
              <a:rPr lang="en-AU" dirty="0"/>
              <a:t>A dedicated server switch connects central services and storage.</a:t>
            </a:r>
          </a:p>
          <a:p>
            <a:r>
              <a:rPr lang="en-AU" dirty="0"/>
              <a:t>Rookwood has its own Layer 3 core, access switches, server, NAS and wireless controller.</a:t>
            </a:r>
          </a:p>
          <a:p>
            <a:r>
              <a:rPr lang="en-AU" dirty="0"/>
              <a:t>The campuses communicate through a 3TTech site-to-site VPN.</a:t>
            </a:r>
          </a:p>
          <a:p>
            <a:r>
              <a:rPr lang="en-AU" dirty="0"/>
              <a:t>VLANs, access controls and central wireless management improve security and administration.</a:t>
            </a:r>
            <a:endParaRPr lang="pt-B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99BF8-150A-42F9-B42C-227D1CE948DB}"/>
              </a:ext>
            </a:extLst>
          </p:cNvPr>
          <p:cNvSpPr txBox="1"/>
          <p:nvPr/>
        </p:nvSpPr>
        <p:spPr>
          <a:xfrm>
            <a:off x="6592186" y="1313279"/>
            <a:ext cx="332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 Option 2 topology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711149-938F-6F41-BF98-C700AF6ED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367" y="1814051"/>
            <a:ext cx="7121332" cy="454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5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9D831-9EBE-561C-5BA6-642D6878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65124"/>
            <a:ext cx="10890929" cy="1097280"/>
          </a:xfrm>
        </p:spPr>
        <p:txBody>
          <a:bodyPr>
            <a:normAutofit/>
          </a:bodyPr>
          <a:lstStyle/>
          <a:p>
            <a:r>
              <a:rPr lang="en-AU" dirty="0"/>
              <a:t>Evaluate of the Two Options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86A0600-F441-E67F-9CFE-B5E9425479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316577"/>
              </p:ext>
            </p:extLst>
          </p:nvPr>
        </p:nvGraphicFramePr>
        <p:xfrm>
          <a:off x="542260" y="2262404"/>
          <a:ext cx="10989339" cy="3799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63113">
                  <a:extLst>
                    <a:ext uri="{9D8B030D-6E8A-4147-A177-3AD203B41FA5}">
                      <a16:colId xmlns:a16="http://schemas.microsoft.com/office/drawing/2014/main" val="1444891351"/>
                    </a:ext>
                  </a:extLst>
                </a:gridCol>
                <a:gridCol w="3663113">
                  <a:extLst>
                    <a:ext uri="{9D8B030D-6E8A-4147-A177-3AD203B41FA5}">
                      <a16:colId xmlns:a16="http://schemas.microsoft.com/office/drawing/2014/main" val="169871386"/>
                    </a:ext>
                  </a:extLst>
                </a:gridCol>
                <a:gridCol w="3663113">
                  <a:extLst>
                    <a:ext uri="{9D8B030D-6E8A-4147-A177-3AD203B41FA5}">
                      <a16:colId xmlns:a16="http://schemas.microsoft.com/office/drawing/2014/main" val="1160489640"/>
                    </a:ext>
                  </a:extLst>
                </a:gridCol>
              </a:tblGrid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Evaluation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Option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Option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274632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Shared routing trunks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Local Layer 3 routing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671000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Brisbane resilience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Main switch dependency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Dual core arrangement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968507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Wireless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Individual APs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Wireless controllers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160298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Rookwood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Dependence on Brisbane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Local services and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59191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Supports structured expansion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990208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660436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328454"/>
                  </a:ext>
                </a:extLst>
              </a:tr>
              <a:tr h="42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Overall suitability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Partially meets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Best alignment with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157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29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8CD7-DA13-E8EE-6BD6-E6DE384E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82773"/>
            <a:ext cx="10890929" cy="1097280"/>
          </a:xfrm>
        </p:spPr>
        <p:txBody>
          <a:bodyPr/>
          <a:lstStyle/>
          <a:p>
            <a:r>
              <a:rPr lang="en-AU" b="0" dirty="0"/>
              <a:t>Forecast Traffic and Performance Benchmarks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211D7-649F-F6A2-CFF9-96039F53E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24" y="1921090"/>
            <a:ext cx="4261529" cy="3629105"/>
          </a:xfrm>
        </p:spPr>
        <p:txBody>
          <a:bodyPr>
            <a:normAutofit lnSpcReduction="10000"/>
          </a:bodyPr>
          <a:lstStyle/>
          <a:p>
            <a:r>
              <a:rPr lang="en-AU" dirty="0"/>
              <a:t>Expected growth drivers:</a:t>
            </a:r>
          </a:p>
          <a:p>
            <a:r>
              <a:rPr lang="en-AU" dirty="0"/>
              <a:t>Increased enrolments and staffing</a:t>
            </a:r>
          </a:p>
          <a:p>
            <a:r>
              <a:rPr lang="en-AU" dirty="0"/>
              <a:t>Additional Brisbane classrooms</a:t>
            </a:r>
          </a:p>
          <a:p>
            <a:r>
              <a:rPr lang="en-AU" dirty="0"/>
              <a:t>More laptops and wireless devices</a:t>
            </a:r>
          </a:p>
          <a:p>
            <a:r>
              <a:rPr lang="en-AU" dirty="0"/>
              <a:t>Video learning, cloud services and file transfers</a:t>
            </a:r>
          </a:p>
          <a:p>
            <a:r>
              <a:rPr lang="en-AU" dirty="0"/>
              <a:t>Inter-campus access and backup traffic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60A541-6A1D-DA2D-829D-A01A46018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630031"/>
              </p:ext>
            </p:extLst>
          </p:nvPr>
        </p:nvGraphicFramePr>
        <p:xfrm>
          <a:off x="6325430" y="2409053"/>
          <a:ext cx="5226490" cy="37629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13245">
                  <a:extLst>
                    <a:ext uri="{9D8B030D-6E8A-4147-A177-3AD203B41FA5}">
                      <a16:colId xmlns:a16="http://schemas.microsoft.com/office/drawing/2014/main" val="353062308"/>
                    </a:ext>
                  </a:extLst>
                </a:gridCol>
                <a:gridCol w="2613245">
                  <a:extLst>
                    <a:ext uri="{9D8B030D-6E8A-4147-A177-3AD203B41FA5}">
                      <a16:colId xmlns:a16="http://schemas.microsoft.com/office/drawing/2014/main" val="2168318463"/>
                    </a:ext>
                  </a:extLst>
                </a:gridCol>
              </a:tblGrid>
              <a:tr h="587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Proposed 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694292"/>
                  </a:ext>
                </a:extLst>
              </a:tr>
              <a:tr h="595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Local response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Average RTT of 10 ms or 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729201"/>
                  </a:ext>
                </a:extLst>
              </a:tr>
              <a:tr h="595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Inter-campus response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Average RTT of 100 ms or 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606112"/>
                  </a:ext>
                </a:extLst>
              </a:tr>
              <a:tr h="595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External response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Average RTT of 150 ms or 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479608"/>
                  </a:ext>
                </a:extLst>
              </a:tr>
              <a:tr h="41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Packet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1% or 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673574"/>
                  </a:ext>
                </a:extLst>
              </a:tr>
              <a:tr h="41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99.9% per 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600786"/>
                  </a:ext>
                </a:extLst>
              </a:tr>
              <a:tr h="41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Link utilisation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Normally below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2385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B184FC-4DA4-7279-438C-D93EE77A7692}"/>
              </a:ext>
            </a:extLst>
          </p:cNvPr>
          <p:cNvSpPr txBox="1"/>
          <p:nvPr/>
        </p:nvSpPr>
        <p:spPr>
          <a:xfrm>
            <a:off x="6325430" y="1799014"/>
            <a:ext cx="353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Expected growth drivers: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9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43AB0-1B66-2EA5-91B5-B23C7E82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869116"/>
          </a:xfrm>
        </p:spPr>
        <p:txBody>
          <a:bodyPr>
            <a:normAutofit/>
          </a:bodyPr>
          <a:lstStyle/>
          <a:p>
            <a:r>
              <a:rPr lang="en-AU" b="0" dirty="0"/>
              <a:t>Indicative Budget and Supplier Pricing</a:t>
            </a:r>
            <a:endParaRPr lang="pt-BR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B3D9E85-F302-3801-58D6-302A59A33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740844"/>
              </p:ext>
            </p:extLst>
          </p:nvPr>
        </p:nvGraphicFramePr>
        <p:xfrm>
          <a:off x="639763" y="2953385"/>
          <a:ext cx="10891836" cy="2926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630612">
                  <a:extLst>
                    <a:ext uri="{9D8B030D-6E8A-4147-A177-3AD203B41FA5}">
                      <a16:colId xmlns:a16="http://schemas.microsoft.com/office/drawing/2014/main" val="4261183634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1960076030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2250903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Priced component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Quantity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dirty="0"/>
                        <a:t>Indicative total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80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Cisco C8200L routers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dirty="0"/>
                        <a:t>AUD 4,954.58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01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Cisco C9300 core switches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AUD 21,396.90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148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C9300-NM-8X 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AUD 8,472.75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60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Cisco C9800-L controllers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AUD 28,561.00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968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Cisco CW9162I access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AUD 8,507.22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459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Dell PowerEdge R360 servers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/>
                        <a:t>From AUD 19,660.11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702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Published-price subtotal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A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dirty="0"/>
                        <a:t>AUD 91,552.56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29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05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0B2B6-C7E0-422E-99E8-04F325C6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Next Step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465324-E6E3-20B7-E8DB-F9FBE829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presenting the prototype to the company A-plus, check if it needs any updates.</a:t>
            </a:r>
          </a:p>
          <a:p>
            <a:r>
              <a:rPr lang="pt-BR" dirty="0" err="1"/>
              <a:t>Implement</a:t>
            </a:r>
            <a:r>
              <a:rPr lang="pt-BR" dirty="0"/>
              <a:t> Project</a:t>
            </a:r>
          </a:p>
          <a:p>
            <a:r>
              <a:rPr lang="pt-BR" dirty="0" err="1"/>
              <a:t>Keep</a:t>
            </a:r>
            <a:r>
              <a:rPr lang="pt-BR" dirty="0"/>
              <a:t> </a:t>
            </a:r>
            <a:r>
              <a:rPr lang="pt-BR" dirty="0" err="1"/>
              <a:t>updating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company</a:t>
            </a:r>
            <a:r>
              <a:rPr lang="pt-BR" dirty="0"/>
              <a:t> </a:t>
            </a:r>
            <a:r>
              <a:rPr lang="pt-BR" dirty="0" err="1"/>
              <a:t>A-plus</a:t>
            </a:r>
            <a:r>
              <a:rPr lang="pt-BR" dirty="0"/>
              <a:t>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proccess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going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3130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77B12-620E-1D81-817E-C539D1BB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References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57E482-7099-77E4-128E-DBFABEF86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ICTTEN622 </a:t>
            </a:r>
            <a:r>
              <a:rPr lang="pt-BR" dirty="0" err="1"/>
              <a:t>Learner</a:t>
            </a:r>
            <a:r>
              <a:rPr lang="pt-BR" dirty="0"/>
              <a:t> </a:t>
            </a:r>
            <a:r>
              <a:rPr lang="pt-BR" dirty="0" err="1"/>
              <a:t>Guide</a:t>
            </a:r>
            <a:endParaRPr lang="pt-BR" dirty="0"/>
          </a:p>
          <a:p>
            <a:r>
              <a:rPr lang="en-AU" dirty="0"/>
              <a:t>Final design sign-off</a:t>
            </a:r>
          </a:p>
          <a:p>
            <a:r>
              <a:rPr lang="en-AU" dirty="0"/>
              <a:t>Client feedback</a:t>
            </a:r>
          </a:p>
          <a:p>
            <a:r>
              <a:rPr lang="en-AU" dirty="0"/>
              <a:t>Signed meeting minutes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68526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586</Words>
  <Application>Microsoft Macintosh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ICTTEN622 – Produce ICT network architecture designs</vt:lpstr>
      <vt:lpstr>Phase 3 </vt:lpstr>
      <vt:lpstr>Business Problems and Project Scope</vt:lpstr>
      <vt:lpstr>Current network topology</vt:lpstr>
      <vt:lpstr>Preliminary Architecture: Option 1</vt:lpstr>
      <vt:lpstr>Preliminary Architecture: Option 2</vt:lpstr>
      <vt:lpstr>Evaluate of the Two Options</vt:lpstr>
      <vt:lpstr>Forecast Traffic and Performance Benchmarks</vt:lpstr>
      <vt:lpstr>Indicative Budget and Supplier Pricing</vt:lpstr>
      <vt:lpstr>Next Step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CTI20221062 Leonardo</dc:creator>
  <cp:lastModifiedBy>CTI20221062 Leonardo</cp:lastModifiedBy>
  <cp:revision>8</cp:revision>
  <dcterms:created xsi:type="dcterms:W3CDTF">2025-08-25T01:15:46Z</dcterms:created>
  <dcterms:modified xsi:type="dcterms:W3CDTF">2026-09-13T06:36:36Z</dcterms:modified>
</cp:coreProperties>
</file>