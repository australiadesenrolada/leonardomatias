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59" r:id="rId10"/>
    <p:sldId id="260" r:id="rId11"/>
    <p:sldId id="273" r:id="rId12"/>
    <p:sldId id="274" r:id="rId13"/>
    <p:sldId id="266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1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00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7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3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35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7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0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48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61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98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m conceito abstrato da genética">
            <a:extLst>
              <a:ext uri="{FF2B5EF4-FFF2-40B4-BE49-F238E27FC236}">
                <a16:creationId xmlns:a16="http://schemas.microsoft.com/office/drawing/2014/main" id="{D8FAB2FD-C0D6-9799-33AC-E9AF1E3D6E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7177" r="9091" b="2168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A6EC40-2091-4E39-5A3B-A9BB93CBB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ICTNWK612 Plan and manage troubleshooting advanced integrated IP networks</a:t>
            </a:r>
            <a:endParaRPr lang="pt-BR" sz="47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BAA3FC-C5FA-554B-5D3D-E07F1CF8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AU" sz="1000">
                <a:solidFill>
                  <a:srgbClr val="FFFFFF"/>
                </a:solidFill>
              </a:rPr>
              <a:t>Telecommunications Network Engineering </a:t>
            </a:r>
          </a:p>
          <a:p>
            <a:pPr>
              <a:lnSpc>
                <a:spcPct val="120000"/>
              </a:lnSpc>
            </a:pPr>
            <a:r>
              <a:rPr lang="en-AU" sz="1000">
                <a:solidFill>
                  <a:srgbClr val="FFFFFF"/>
                </a:solidFill>
              </a:rPr>
              <a:t>Leonardo Matias Ciarcia</a:t>
            </a:r>
          </a:p>
          <a:p>
            <a:pPr>
              <a:lnSpc>
                <a:spcPct val="120000"/>
              </a:lnSpc>
            </a:pPr>
            <a:r>
              <a:rPr lang="en-AU" sz="1000">
                <a:solidFill>
                  <a:srgbClr val="FFFFFF"/>
                </a:solidFill>
              </a:rPr>
              <a:t>CTI20221062</a:t>
            </a:r>
            <a:endParaRPr lang="pt-BR" sz="100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358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AF494-6260-91E3-1425-E6864D5E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Phase 4 </a:t>
            </a:r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21FEED3-6424-1427-255C-252849211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4" y="2633664"/>
            <a:ext cx="10890930" cy="3187034"/>
          </a:xfrm>
        </p:spPr>
        <p:txBody>
          <a:bodyPr>
            <a:normAutofit/>
          </a:bodyPr>
          <a:lstStyle/>
          <a:p>
            <a:r>
              <a:rPr lang="en-AU" dirty="0"/>
              <a:t>Planning for the strategies for troubleshooting and monitoring the performance of the advanced integrated IP networks.</a:t>
            </a:r>
            <a:endParaRPr lang="pt-BR" dirty="0"/>
          </a:p>
          <a:p>
            <a:r>
              <a:rPr lang="en-AU" dirty="0"/>
              <a:t>Management and monitoring troubleshooting strategies for complex enterprise networks</a:t>
            </a:r>
            <a:endParaRPr lang="pt-BR" dirty="0"/>
          </a:p>
          <a:p>
            <a:r>
              <a:rPr lang="en-AU" dirty="0"/>
              <a:t>Implementation of test plans for advanced network solutions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851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A6E4-9443-654F-2552-963680BB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91387"/>
            <a:ext cx="10890929" cy="1097280"/>
          </a:xfrm>
        </p:spPr>
        <p:txBody>
          <a:bodyPr/>
          <a:lstStyle/>
          <a:p>
            <a:r>
              <a:rPr lang="en-AU" b="0" dirty="0"/>
              <a:t>Final Network Option 2 topology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145B1-B530-8EBA-21A8-BB2ADFDAE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00" y="1363095"/>
            <a:ext cx="10610598" cy="514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2D11-C0C2-D6EE-15C5-97ECD5AC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82" y="301114"/>
            <a:ext cx="10890929" cy="1097280"/>
          </a:xfrm>
        </p:spPr>
        <p:txBody>
          <a:bodyPr/>
          <a:lstStyle/>
          <a:p>
            <a:r>
              <a:rPr lang="en-AU" b="0" dirty="0"/>
              <a:t>Monitoring Structure and Targets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733D80-A360-961B-73F6-74F74C3A4A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093224"/>
              </p:ext>
            </p:extLst>
          </p:nvPr>
        </p:nvGraphicFramePr>
        <p:xfrm>
          <a:off x="650082" y="2073647"/>
          <a:ext cx="10891836" cy="32638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45918">
                  <a:extLst>
                    <a:ext uri="{9D8B030D-6E8A-4147-A177-3AD203B41FA5}">
                      <a16:colId xmlns:a16="http://schemas.microsoft.com/office/drawing/2014/main" val="2760850196"/>
                    </a:ext>
                  </a:extLst>
                </a:gridCol>
                <a:gridCol w="5445918">
                  <a:extLst>
                    <a:ext uri="{9D8B030D-6E8A-4147-A177-3AD203B41FA5}">
                      <a16:colId xmlns:a16="http://schemas.microsoft.com/office/drawing/2014/main" val="92484618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Monitoring requirement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8724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Reachability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Gateways, servers, Rookwood and internet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3735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Local, inter-campus and external response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39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Packet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Target of 1% or 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3263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Utilisation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Warning from 70%; critical at 85% or above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7641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Availability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Proposed target of 99.9% per 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4894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Interfaces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Link state, speed, errors and discards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5186"/>
                  </a:ext>
                </a:extLst>
              </a:tr>
              <a:tr h="703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Access attempts, ACL behaviour and configuration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03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28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343F7-E2B2-0C09-BD58-C9DE96A3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0" dirty="0"/>
              <a:t>Structured Troubleshooting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58532-5592-B72E-1993-0421C4EAF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Record the fault, time, affected users and services.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Confirm the symptoms and determine the scope.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Compare the network with its last verified configuration.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Isolate the fault using the OSI model.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Test physical links, VLANs, addressing, routing and services.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Apply one authorised corrective action at a time.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Repeat the affected tests.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Document the cause, action, result and remaining risk.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Reverse the change if it creates additional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5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D6A1-B1AA-F4BD-6090-7AEBF7E6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0" dirty="0"/>
              <a:t>Testing and Monitoring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03C2-62E2-272D-096A-EE2F775DA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Cisco Packet Tracer for configuration and simulated connectivity testing</a:t>
            </a:r>
          </a:p>
          <a:p>
            <a:r>
              <a:rPr lang="en-AU" dirty="0"/>
              <a:t>Cisco IOS show commands for interfaces, VLANs, spanning tree and routing</a:t>
            </a:r>
          </a:p>
          <a:p>
            <a:r>
              <a:rPr lang="en-AU" dirty="0"/>
              <a:t>Ping and traceroute for reachability, delay and path checking</a:t>
            </a:r>
          </a:p>
          <a:p>
            <a:r>
              <a:rPr lang="en-AU" dirty="0"/>
              <a:t>Wireshark for packet and protocol analysis</a:t>
            </a:r>
          </a:p>
          <a:p>
            <a:r>
              <a:rPr lang="en-AU" dirty="0" err="1"/>
              <a:t>TamoGraph</a:t>
            </a:r>
            <a:r>
              <a:rPr lang="en-AU" dirty="0"/>
              <a:t> for wireless coverage and interference assessment</a:t>
            </a:r>
          </a:p>
          <a:p>
            <a:r>
              <a:rPr lang="en-AU" dirty="0"/>
              <a:t>Configuration backups and logs for change comparison and recovery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4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C12F-C8FA-0A0F-6437-7E45F163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116" y="367442"/>
            <a:ext cx="10890929" cy="1097280"/>
          </a:xfrm>
        </p:spPr>
        <p:txBody>
          <a:bodyPr/>
          <a:lstStyle/>
          <a:p>
            <a:r>
              <a:rPr lang="en-US" dirty="0" err="1"/>
              <a:t>TamoGraph</a:t>
            </a:r>
            <a:r>
              <a:rPr lang="en-US" dirty="0"/>
              <a:t> evidences (Level 1 &amp; Level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252A5-AFCC-54D7-E9B9-27A00A4D6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3" y="2517141"/>
            <a:ext cx="5430422" cy="27034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6B5995-0370-53C6-CE01-DF66210253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734" y="1464722"/>
            <a:ext cx="5847074" cy="39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7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2FD3-EE9F-5E51-7493-C8331A85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B04F0-44EF-3819-04F9-6A304B69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65815"/>
            <a:ext cx="10890929" cy="1097280"/>
          </a:xfrm>
        </p:spPr>
        <p:txBody>
          <a:bodyPr/>
          <a:lstStyle/>
          <a:p>
            <a:r>
              <a:rPr lang="en-US" dirty="0"/>
              <a:t>Wireshark evidences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B3C892-F0D4-8D4D-C95C-219383BBA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134" y="1400309"/>
            <a:ext cx="8972588" cy="504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27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4F3D5-6D6F-41BC-F038-EB402C2B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78" y="487346"/>
            <a:ext cx="10862110" cy="1195293"/>
          </a:xfrm>
        </p:spPr>
        <p:txBody>
          <a:bodyPr>
            <a:normAutofit/>
          </a:bodyPr>
          <a:lstStyle/>
          <a:p>
            <a:r>
              <a:rPr lang="en-AU" b="0" dirty="0"/>
              <a:t>Connectivity and Switching Tests</a:t>
            </a:r>
            <a:endParaRPr lang="en-AU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9A5E34-62A8-0B0D-97E1-9BCF4B3D4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29" y="1899954"/>
            <a:ext cx="9290729" cy="4226151"/>
          </a:xfrm>
        </p:spPr>
        <p:txBody>
          <a:bodyPr>
            <a:normAutofit lnSpcReduction="10000"/>
          </a:bodyPr>
          <a:lstStyle/>
          <a:p>
            <a:r>
              <a:rPr lang="en-AU" dirty="0"/>
              <a:t>BRI-ADMIN-PC to gateway: 10.10.20.1</a:t>
            </a:r>
          </a:p>
          <a:p>
            <a:r>
              <a:rPr lang="en-AU" dirty="0"/>
              <a:t>BRI-ADMIN-PC to Brisbane server: 10.10.40.10</a:t>
            </a:r>
          </a:p>
          <a:p>
            <a:r>
              <a:rPr lang="en-AU" dirty="0"/>
              <a:t>BRI-ADMIN-PC to Rookwood server: 10.20.40.10</a:t>
            </a:r>
          </a:p>
          <a:p>
            <a:r>
              <a:rPr lang="en-AU" dirty="0"/>
              <a:t>BRI-ADMIN-PC to internet server: 209.165.200.10</a:t>
            </a:r>
          </a:p>
          <a:p>
            <a:r>
              <a:rPr lang="en-AU" dirty="0"/>
              <a:t>Rookwood user to Rookwood server: 10.20.40.10</a:t>
            </a:r>
          </a:p>
          <a:p>
            <a:r>
              <a:rPr lang="en-AU" dirty="0"/>
              <a:t>VLAN and access-port assignments</a:t>
            </a:r>
          </a:p>
          <a:p>
            <a:r>
              <a:rPr lang="en-AU" dirty="0"/>
              <a:t>Trunk and switch-to-switch connectivity</a:t>
            </a:r>
          </a:p>
          <a:p>
            <a:r>
              <a:rPr lang="en-AU" dirty="0"/>
              <a:t>Spanning Tree Protocol and loop prevention</a:t>
            </a:r>
          </a:p>
          <a:p>
            <a:r>
              <a:rPr lang="en-AU" dirty="0"/>
              <a:t>SVI status and inter-VLAN routing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731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D3829-7005-0D09-CCCC-5A594D88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400665"/>
            <a:ext cx="10011879" cy="1097280"/>
          </a:xfrm>
        </p:spPr>
        <p:txBody>
          <a:bodyPr>
            <a:normAutofit/>
          </a:bodyPr>
          <a:lstStyle/>
          <a:p>
            <a:r>
              <a:rPr lang="en-AU" b="0" dirty="0"/>
              <a:t>Advanced Services and Identified Limitation</a:t>
            </a:r>
            <a:endParaRPr lang="en-AU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287174-216F-CDC2-D4D3-B9A53F70E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8" y="1661651"/>
            <a:ext cx="10407150" cy="4941168"/>
          </a:xfrm>
        </p:spPr>
        <p:txBody>
          <a:bodyPr>
            <a:normAutofit/>
          </a:bodyPr>
          <a:lstStyle/>
          <a:p>
            <a:r>
              <a:rPr lang="en-AU" dirty="0"/>
              <a:t>DHCP must provide the correct IP address, mask and default gateway.</a:t>
            </a:r>
          </a:p>
          <a:p>
            <a:r>
              <a:rPr lang="en-AU" dirty="0"/>
              <a:t>DNS and authorised server access must operate from the required VLANs.</a:t>
            </a:r>
          </a:p>
          <a:p>
            <a:r>
              <a:rPr lang="en-AU" dirty="0"/>
              <a:t>IPv4 and IPv6 configurations must be monitored separately.</a:t>
            </a:r>
          </a:p>
          <a:p>
            <a:r>
              <a:rPr lang="en-AU" dirty="0"/>
              <a:t>ACLs and VLAN separation must prevent unauthorised access.</a:t>
            </a:r>
          </a:p>
          <a:p>
            <a:r>
              <a:rPr lang="en-AU" dirty="0"/>
              <a:t>Private VLAN commands were not supported in the selected Packet Tracer device.</a:t>
            </a:r>
          </a:p>
          <a:p>
            <a:r>
              <a:rPr lang="en-AU" dirty="0"/>
              <a:t>The supplementary protected-port test did not successfully demonstrate isolation in the latest recorded attempt.</a:t>
            </a:r>
          </a:p>
          <a:p>
            <a:r>
              <a:rPr lang="en-AU" dirty="0"/>
              <a:t>Full PVLAN testing requires a platform that supports primary, secondary, isolated, community and promiscuous VLAN roles.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8463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EC0CF-CD2B-9B64-DAD2-78B51F156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40" y="212652"/>
            <a:ext cx="10890929" cy="1097280"/>
          </a:xfrm>
        </p:spPr>
        <p:txBody>
          <a:bodyPr/>
          <a:lstStyle/>
          <a:p>
            <a:r>
              <a:rPr lang="en-AU" b="0" dirty="0"/>
              <a:t>IOS and Configuration Maintenance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19402-D219-559D-A8FB-782657BF6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21" y="1772235"/>
            <a:ext cx="10890928" cy="3566160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Review interface, routing and security logs regularly.</a:t>
            </a:r>
          </a:p>
          <a:p>
            <a:r>
              <a:rPr lang="en-AU" dirty="0"/>
              <a:t>Back up verified running and startup configurations.</a:t>
            </a:r>
          </a:p>
          <a:p>
            <a:r>
              <a:rPr lang="en-AU" dirty="0"/>
              <a:t>Compare current configurations with approved baselines.</a:t>
            </a:r>
          </a:p>
          <a:p>
            <a:r>
              <a:rPr lang="en-AU" dirty="0"/>
              <a:t>Review routing tables, default routes and VPN status.</a:t>
            </a:r>
          </a:p>
          <a:p>
            <a:r>
              <a:rPr lang="en-AU" dirty="0"/>
              <a:t>Check IOS compatibility and security notices before upgrades.</a:t>
            </a:r>
          </a:p>
          <a:p>
            <a:r>
              <a:rPr lang="en-AU" dirty="0"/>
              <a:t>Verify image files and maintain a rollback copy.</a:t>
            </a:r>
          </a:p>
          <a:p>
            <a:r>
              <a:rPr lang="en-AU" dirty="0"/>
              <a:t>Perform upgrades during an approved maintenance window.</a:t>
            </a:r>
          </a:p>
          <a:p>
            <a:r>
              <a:rPr lang="en-AU" dirty="0"/>
              <a:t>Retest routing, VLANs, DHCP, DNS, VPN and internet access after maintenance.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564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1B13-F7A5-34FC-E208-04A136ED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55182"/>
            <a:ext cx="10890929" cy="1097280"/>
          </a:xfrm>
        </p:spPr>
        <p:txBody>
          <a:bodyPr/>
          <a:lstStyle/>
          <a:p>
            <a:r>
              <a:rPr lang="en-AU" b="0" dirty="0"/>
              <a:t>Risks, Contingencies and Recovery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12A7-6BA5-83E7-60BC-E9766D953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021" y="2081855"/>
            <a:ext cx="10890928" cy="3566160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Reverse unsuccessful configuration changes using a verified backup.</a:t>
            </a:r>
          </a:p>
          <a:p>
            <a:r>
              <a:rPr lang="en-AU" dirty="0"/>
              <a:t>Use the remaining Brisbane core path when a core or uplink fails.</a:t>
            </a:r>
          </a:p>
          <a:p>
            <a:r>
              <a:rPr lang="en-AU" dirty="0"/>
              <a:t>Continue local campus services during a 3TTech or VPN outage.</a:t>
            </a:r>
          </a:p>
          <a:p>
            <a:r>
              <a:rPr lang="en-AU" dirty="0"/>
              <a:t>Use wired access when an AP or wireless controller fails.</a:t>
            </a:r>
          </a:p>
          <a:p>
            <a:r>
              <a:rPr lang="en-AU" dirty="0"/>
              <a:t>Restore data from verified NAS or off-site backups.</a:t>
            </a:r>
          </a:p>
          <a:p>
            <a:r>
              <a:rPr lang="en-AU" dirty="0"/>
              <a:t>Reschedule non-urgent transfers when sustained congestion occurs.</a:t>
            </a:r>
          </a:p>
          <a:p>
            <a:r>
              <a:rPr lang="en-AU" dirty="0"/>
              <a:t>Correct security or isolation failures before restoring full access.</a:t>
            </a:r>
          </a:p>
          <a:p>
            <a:r>
              <a:rPr lang="en-AU" dirty="0"/>
              <a:t>Record recovery time, outcome and outstanding actions.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347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77B12-620E-1D81-817E-C539D1BB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References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57E482-7099-77E4-128E-DBFABEF86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ICTNWK612 </a:t>
            </a:r>
            <a:r>
              <a:rPr lang="pt-BR" dirty="0" err="1"/>
              <a:t>Learner</a:t>
            </a:r>
            <a:r>
              <a:rPr lang="pt-BR" dirty="0"/>
              <a:t> </a:t>
            </a:r>
            <a:r>
              <a:rPr lang="pt-BR" dirty="0" err="1"/>
              <a:t>Guide</a:t>
            </a:r>
            <a:endParaRPr lang="pt-BR" dirty="0"/>
          </a:p>
          <a:p>
            <a:r>
              <a:rPr lang="pt-BR" dirty="0" err="1"/>
              <a:t>WireShark</a:t>
            </a:r>
            <a:r>
              <a:rPr lang="pt-BR" dirty="0"/>
              <a:t> </a:t>
            </a:r>
            <a:r>
              <a:rPr lang="pt-BR" dirty="0" err="1"/>
              <a:t>Fundations</a:t>
            </a:r>
            <a:endParaRPr lang="pt-BR" dirty="0"/>
          </a:p>
          <a:p>
            <a:r>
              <a:rPr lang="pt-BR" dirty="0" err="1"/>
              <a:t>TamoSoft</a:t>
            </a:r>
            <a:r>
              <a:rPr lang="pt-BR" dirty="0"/>
              <a:t> Ltd., “</a:t>
            </a:r>
            <a:r>
              <a:rPr lang="pt-BR" dirty="0" err="1"/>
              <a:t>TamoGrapf</a:t>
            </a:r>
            <a:r>
              <a:rPr lang="pt-BR" dirty="0"/>
              <a:t> Site </a:t>
            </a:r>
            <a:r>
              <a:rPr lang="pt-BR" dirty="0" err="1"/>
              <a:t>Survey</a:t>
            </a:r>
            <a:r>
              <a:rPr lang="pt-BR" dirty="0"/>
              <a:t>”</a:t>
            </a:r>
          </a:p>
          <a:p>
            <a:r>
              <a:rPr lang="pt-BR" dirty="0"/>
              <a:t>Cisco Systems</a:t>
            </a:r>
          </a:p>
        </p:txBody>
      </p:sp>
    </p:spTree>
    <p:extLst>
      <p:ext uri="{BB962C8B-B14F-4D97-AF65-F5344CB8AC3E}">
        <p14:creationId xmlns:p14="http://schemas.microsoft.com/office/powerpoint/2010/main" val="33168526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</TotalTime>
  <Words>610</Words>
  <Application>Microsoft Macintosh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Grandview Display</vt:lpstr>
      <vt:lpstr>DashVTI</vt:lpstr>
      <vt:lpstr>ICTNWK612 Plan and manage troubleshooting advanced integrated IP networks</vt:lpstr>
      <vt:lpstr>Phase 4 </vt:lpstr>
      <vt:lpstr>Final Network Option 2 topology</vt:lpstr>
      <vt:lpstr>Monitoring Structure and Targets</vt:lpstr>
      <vt:lpstr>Structured Troubleshooting Process</vt:lpstr>
      <vt:lpstr>Testing and Monitoring Tools</vt:lpstr>
      <vt:lpstr>TamoGraph evidences (Level 1 &amp; Level 2)</vt:lpstr>
      <vt:lpstr>Wireshark evidences</vt:lpstr>
      <vt:lpstr>Connectivity and Switching Tests</vt:lpstr>
      <vt:lpstr>Advanced Services and Identified Limitation</vt:lpstr>
      <vt:lpstr>IOS and Configuration Maintenance</vt:lpstr>
      <vt:lpstr>Risks, Contingencies and Recovery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CTI20221062 Leonardo</dc:creator>
  <cp:lastModifiedBy>CTI20221062 Leonardo</cp:lastModifiedBy>
  <cp:revision>10</cp:revision>
  <dcterms:created xsi:type="dcterms:W3CDTF">2025-08-25T01:15:46Z</dcterms:created>
  <dcterms:modified xsi:type="dcterms:W3CDTF">2026-09-13T07:00:04Z</dcterms:modified>
</cp:coreProperties>
</file>